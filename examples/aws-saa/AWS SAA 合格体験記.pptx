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slide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slide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slide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slide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slide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slide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slide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slide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slide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slide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slide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slide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slide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slide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slide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slide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729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50000" y="850000"/>
            <a:ext cx="140100" cy="3600000"/>
          </a:xfrm>
          <a:prstGeom prst="rect">
            <a:avLst/>
          </a:prstGeom>
          <a:solidFill>
            <a:srgbClr val="FF9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000000" y="1250000"/>
            <a:ext cx="7800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rgbClr val="FFFFFF"/>
                </a:solidFill>
              </a:rPr>
              <a:t>AWS Certified Solutions Architect – Associate</a:t>
            </a:r>
            <a:endParaRPr b="1" sz="3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rgbClr val="FFFFFF"/>
                </a:solidFill>
              </a:rPr>
              <a:t>合格体験記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040000" y="3180000"/>
            <a:ext cx="360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DBE5F0"/>
                </a:solidFill>
              </a:rPr>
              <a:t>TBan34</a:t>
            </a:r>
            <a:endParaRPr sz="1800">
              <a:solidFill>
                <a:srgbClr val="DBE5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550000" y="330000"/>
            <a:ext cx="8199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rgbClr val="0D1F33"/>
                </a:solidFill>
              </a:rPr>
              <a:t>自己紹介・受験背景</a:t>
            </a:r>
            <a:endParaRPr b="1" sz="3000">
              <a:solidFill>
                <a:srgbClr val="0D1F33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620000" y="1120000"/>
            <a:ext cx="8000100" cy="620100"/>
          </a:xfrm>
          <a:prstGeom prst="rect">
            <a:avLst/>
          </a:prstGeom>
          <a:solidFill>
            <a:srgbClr val="F5FAFF"/>
          </a:solidFill>
          <a:ln cap="flat" cmpd="sng" w="12000">
            <a:solidFill>
              <a:srgbClr val="C4D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900000" y="1210000"/>
            <a:ext cx="7440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0D1F33"/>
                </a:solidFill>
              </a:rPr>
              <a:t>AWS業務経験なしでも、体系的に学べば合格は目指せる</a:t>
            </a:r>
            <a:endParaRPr b="1" sz="2200">
              <a:solidFill>
                <a:srgbClr val="0D1F33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50000" y="2200000"/>
            <a:ext cx="3900000" cy="2199900"/>
          </a:xfrm>
          <a:prstGeom prst="rect">
            <a:avLst/>
          </a:prstGeom>
          <a:solidFill>
            <a:srgbClr val="FAFCFF"/>
          </a:solidFill>
          <a:ln cap="flat" cmpd="sng" w="10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850000" y="2400000"/>
            <a:ext cx="3500100" cy="18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7305"/>
                </a:solidFill>
              </a:rPr>
              <a:t>受験時の状態</a:t>
            </a:r>
            <a:endParaRPr b="1" sz="1500">
              <a:solidFill>
                <a:srgbClr val="FF730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212B38"/>
                </a:solidFill>
              </a:rPr>
              <a:t>Javaエンジニア</a:t>
            </a:r>
            <a:endParaRPr sz="1500">
              <a:solidFill>
                <a:srgbClr val="212B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212B38"/>
                </a:solidFill>
              </a:rPr>
              <a:t>AWS業務経験なし</a:t>
            </a:r>
            <a:endParaRPr sz="1500">
              <a:solidFill>
                <a:srgbClr val="212B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212B38"/>
                </a:solidFill>
              </a:rPr>
              <a:t>CLF取得済（約1年前）</a:t>
            </a:r>
            <a:endParaRPr sz="1500">
              <a:solidFill>
                <a:srgbClr val="212B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212B38"/>
                </a:solidFill>
              </a:rPr>
              <a:t>約3年前に個人開発で少し利用</a:t>
            </a:r>
            <a:endParaRPr sz="1500">
              <a:solidFill>
                <a:srgbClr val="212B38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5050000" y="2200000"/>
            <a:ext cx="3600000" cy="2199900"/>
          </a:xfrm>
          <a:prstGeom prst="rect">
            <a:avLst/>
          </a:prstGeom>
          <a:solidFill>
            <a:srgbClr val="FFF6E0"/>
          </a:solidFill>
          <a:ln cap="flat" cmpd="sng" w="10000">
            <a:solidFill>
              <a:srgbClr val="FFA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5250000" y="2400000"/>
            <a:ext cx="3200100" cy="18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7305"/>
                </a:solidFill>
              </a:rPr>
              <a:t>受験背景</a:t>
            </a:r>
            <a:endParaRPr b="1" sz="1500">
              <a:solidFill>
                <a:srgbClr val="FF730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212B38"/>
                </a:solidFill>
              </a:rPr>
              <a:t>AWS知識を体系的に学びたかった</a:t>
            </a:r>
            <a:endParaRPr sz="1500">
              <a:solidFill>
                <a:srgbClr val="212B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12B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7305"/>
                </a:solidFill>
              </a:rPr>
              <a:t>読者へのメッセージ</a:t>
            </a:r>
            <a:endParaRPr b="1" sz="1500">
              <a:solidFill>
                <a:srgbClr val="FF730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212B38"/>
                </a:solidFill>
              </a:rPr>
              <a:t>実務未経験でも、進め方次第で十分狙える</a:t>
            </a:r>
            <a:endParaRPr sz="1500">
              <a:solidFill>
                <a:srgbClr val="212B38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50000" y="890000"/>
            <a:ext cx="620100" cy="45000"/>
          </a:xfrm>
          <a:prstGeom prst="rect">
            <a:avLst/>
          </a:prstGeom>
          <a:solidFill>
            <a:srgbClr val="FF9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8350000" y="4900000"/>
            <a:ext cx="9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808791"/>
                </a:solidFill>
              </a:rPr>
              <a:t>02</a:t>
            </a:r>
            <a:endParaRPr sz="800">
              <a:solidFill>
                <a:srgbClr val="80879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550000" y="330000"/>
            <a:ext cx="8199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rgbClr val="0D1F33"/>
                </a:solidFill>
              </a:rPr>
              <a:t>試験概要</a:t>
            </a:r>
            <a:endParaRPr b="1" sz="3000">
              <a:solidFill>
                <a:srgbClr val="0D1F33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650000" y="1300000"/>
            <a:ext cx="1800000" cy="1500000"/>
          </a:xfrm>
          <a:prstGeom prst="rect">
            <a:avLst/>
          </a:prstGeom>
          <a:solidFill>
            <a:srgbClr val="F5FAFF"/>
          </a:solidFill>
          <a:ln cap="flat" cmpd="sng" w="12700">
            <a:solidFill>
              <a:srgbClr val="C7D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830000" y="1580000"/>
            <a:ext cx="15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0D1F33"/>
                </a:solidFill>
              </a:rPr>
              <a:t>65問</a:t>
            </a:r>
            <a:endParaRPr b="1" sz="2200">
              <a:solidFill>
                <a:srgbClr val="0D1F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0D1F33"/>
                </a:solidFill>
              </a:rPr>
              <a:t>問題数</a:t>
            </a:r>
            <a:endParaRPr b="1" sz="2200">
              <a:solidFill>
                <a:srgbClr val="0D1F33"/>
              </a:solidFill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800000" y="1300000"/>
            <a:ext cx="1800000" cy="1500000"/>
          </a:xfrm>
          <a:prstGeom prst="rect">
            <a:avLst/>
          </a:prstGeom>
          <a:solidFill>
            <a:srgbClr val="F5FAFF"/>
          </a:solidFill>
          <a:ln cap="flat" cmpd="sng" w="12700">
            <a:solidFill>
              <a:srgbClr val="C7D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2980000" y="1580000"/>
            <a:ext cx="15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0D1F33"/>
                </a:solidFill>
              </a:rPr>
              <a:t>130分</a:t>
            </a:r>
            <a:endParaRPr b="1" sz="2200">
              <a:solidFill>
                <a:srgbClr val="0D1F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0D1F33"/>
                </a:solidFill>
              </a:rPr>
              <a:t>試験時間</a:t>
            </a:r>
            <a:endParaRPr b="1" sz="2200">
              <a:solidFill>
                <a:srgbClr val="0D1F33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4950000" y="1300000"/>
            <a:ext cx="1800000" cy="1500000"/>
          </a:xfrm>
          <a:prstGeom prst="rect">
            <a:avLst/>
          </a:prstGeom>
          <a:solidFill>
            <a:srgbClr val="F5FAFF"/>
          </a:solidFill>
          <a:ln cap="flat" cmpd="sng" w="12700">
            <a:solidFill>
              <a:srgbClr val="C7D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5030000" y="1580000"/>
            <a:ext cx="18600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0D1F33"/>
                </a:solidFill>
              </a:rPr>
              <a:t>720点</a:t>
            </a:r>
            <a:endParaRPr b="1" sz="2000">
              <a:solidFill>
                <a:srgbClr val="0D1F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0D1F33"/>
                </a:solidFill>
              </a:rPr>
              <a:t>合格ライン</a:t>
            </a:r>
            <a:endParaRPr b="1" sz="2000">
              <a:solidFill>
                <a:srgbClr val="0D1F33"/>
              </a:solidFill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7100000" y="1300000"/>
            <a:ext cx="1800000" cy="1500000"/>
          </a:xfrm>
          <a:prstGeom prst="rect">
            <a:avLst/>
          </a:prstGeom>
          <a:solidFill>
            <a:srgbClr val="FFF5E0"/>
          </a:solidFill>
          <a:ln cap="flat" cmpd="sng" w="16500">
            <a:solidFill>
              <a:srgbClr val="FFA6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7180000" y="1580000"/>
            <a:ext cx="18600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7305"/>
                </a:solidFill>
              </a:rPr>
              <a:t>782点</a:t>
            </a:r>
            <a:endParaRPr b="1" sz="2000">
              <a:solidFill>
                <a:srgbClr val="FF73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7305"/>
                </a:solidFill>
              </a:rPr>
              <a:t>取得スコア</a:t>
            </a:r>
            <a:endParaRPr b="1" sz="2000">
              <a:solidFill>
                <a:srgbClr val="FF7305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550000" y="890000"/>
            <a:ext cx="620100" cy="45000"/>
          </a:xfrm>
          <a:prstGeom prst="rect">
            <a:avLst/>
          </a:prstGeom>
          <a:solidFill>
            <a:srgbClr val="FF9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8350000" y="4900000"/>
            <a:ext cx="9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808791"/>
                </a:solidFill>
              </a:rPr>
              <a:t>03</a:t>
            </a:r>
            <a:endParaRPr sz="800">
              <a:solidFill>
                <a:srgbClr val="80879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/>
        </p:nvSpPr>
        <p:spPr>
          <a:xfrm>
            <a:off x="550000" y="330000"/>
            <a:ext cx="8199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rgbClr val="0D1F33"/>
                </a:solidFill>
              </a:rPr>
              <a:t>学習スケジュール</a:t>
            </a:r>
            <a:endParaRPr b="1" sz="3000">
              <a:solidFill>
                <a:srgbClr val="0D1F33"/>
              </a:solidFill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650000" y="1450000"/>
            <a:ext cx="1800000" cy="2349900"/>
          </a:xfrm>
          <a:prstGeom prst="rect">
            <a:avLst/>
          </a:prstGeom>
          <a:solidFill>
            <a:srgbClr val="FAFCFF"/>
          </a:solidFill>
          <a:ln cap="flat" cmpd="sng" w="10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2700000" y="1450000"/>
            <a:ext cx="1800000" cy="2349900"/>
          </a:xfrm>
          <a:prstGeom prst="rect">
            <a:avLst/>
          </a:prstGeom>
          <a:solidFill>
            <a:srgbClr val="FAFCFF"/>
          </a:solidFill>
          <a:ln cap="flat" cmpd="sng" w="10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4750000" y="1450000"/>
            <a:ext cx="1800000" cy="2349900"/>
          </a:xfrm>
          <a:prstGeom prst="rect">
            <a:avLst/>
          </a:prstGeom>
          <a:solidFill>
            <a:srgbClr val="FAFCFF"/>
          </a:solidFill>
          <a:ln cap="flat" cmpd="sng" w="10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6800000" y="1450000"/>
            <a:ext cx="1749900" cy="2349900"/>
          </a:xfrm>
          <a:prstGeom prst="rect">
            <a:avLst/>
          </a:prstGeom>
          <a:solidFill>
            <a:srgbClr val="FFF6E0"/>
          </a:solidFill>
          <a:ln cap="flat" cmpd="sng" w="10000">
            <a:solidFill>
              <a:srgbClr val="FFA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800000" y="1700000"/>
            <a:ext cx="1500000" cy="18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3月下旬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学習開始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Udemy講義で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全体像を掴む</a:t>
            </a:r>
            <a:endParaRPr sz="1500">
              <a:solidFill>
                <a:srgbClr val="142438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2850000" y="1700000"/>
            <a:ext cx="1500000" cy="18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4月下旬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本格化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模試中心へ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切り替え</a:t>
            </a:r>
            <a:endParaRPr sz="1500">
              <a:solidFill>
                <a:srgbClr val="142438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900000" y="1700000"/>
            <a:ext cx="1500000" cy="18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7月11日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受験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782/1000で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合格</a:t>
            </a:r>
            <a:endParaRPr sz="1500">
              <a:solidFill>
                <a:srgbClr val="142438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6950000" y="1700000"/>
            <a:ext cx="1449900" cy="18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142438"/>
                </a:solidFill>
              </a:rPr>
              <a:t>学習量</a:t>
            </a:r>
            <a:endParaRPr b="1" sz="16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142438"/>
                </a:solidFill>
              </a:rPr>
              <a:t>約70時間</a:t>
            </a:r>
            <a:endParaRPr b="1" sz="16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142438"/>
                </a:solidFill>
              </a:rPr>
              <a:t>期間</a:t>
            </a:r>
            <a:endParaRPr b="1" sz="16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142438"/>
                </a:solidFill>
              </a:rPr>
              <a:t>約3か月半</a:t>
            </a:r>
            <a:endParaRPr b="1" sz="1600">
              <a:solidFill>
                <a:srgbClr val="142438"/>
              </a:solidFill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50000" y="890000"/>
            <a:ext cx="620100" cy="45000"/>
          </a:xfrm>
          <a:prstGeom prst="rect">
            <a:avLst/>
          </a:prstGeom>
          <a:solidFill>
            <a:srgbClr val="FF9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8350000" y="4900000"/>
            <a:ext cx="9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808791"/>
                </a:solidFill>
              </a:rPr>
              <a:t>04</a:t>
            </a:r>
            <a:endParaRPr sz="800">
              <a:solidFill>
                <a:srgbClr val="80879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550000" y="330000"/>
            <a:ext cx="8199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rgbClr val="0D1F33"/>
                </a:solidFill>
              </a:rPr>
              <a:t>学習方法と使用教材</a:t>
            </a:r>
            <a:endParaRPr b="1" sz="3000">
              <a:solidFill>
                <a:srgbClr val="0D1F33"/>
              </a:solidFill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600000" y="1050000"/>
            <a:ext cx="3150000" cy="3350100"/>
          </a:xfrm>
          <a:prstGeom prst="rect">
            <a:avLst/>
          </a:prstGeom>
          <a:solidFill>
            <a:srgbClr val="FAFCFF"/>
          </a:solidFill>
          <a:ln cap="flat" cmpd="sng" w="10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780000" y="1230000"/>
            <a:ext cx="27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学習サイクル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講義で全体像を掴む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↓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模試を解く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↓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解説をその場で理解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↓</a:t>
            </a:r>
            <a:endParaRPr sz="1500">
              <a:solidFill>
                <a:srgbClr val="1424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142438"/>
                </a:solidFill>
              </a:rPr>
              <a:t>次の模試で再確認</a:t>
            </a:r>
            <a:endParaRPr sz="1500">
              <a:solidFill>
                <a:srgbClr val="142438"/>
              </a:solidFill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200000" y="1050000"/>
            <a:ext cx="4449900" cy="860100"/>
          </a:xfrm>
          <a:prstGeom prst="rect">
            <a:avLst/>
          </a:prstGeom>
          <a:solidFill>
            <a:srgbClr val="FAFCFF"/>
          </a:solidFill>
          <a:ln cap="flat" cmpd="sng" w="9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4200000" y="2050000"/>
            <a:ext cx="4449900" cy="860100"/>
          </a:xfrm>
          <a:prstGeom prst="rect">
            <a:avLst/>
          </a:prstGeom>
          <a:solidFill>
            <a:srgbClr val="FFF6E0"/>
          </a:solidFill>
          <a:ln cap="flat" cmpd="sng" w="9000">
            <a:solidFill>
              <a:srgbClr val="FFA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4200000" y="3050000"/>
            <a:ext cx="4449900" cy="860100"/>
          </a:xfrm>
          <a:prstGeom prst="rect">
            <a:avLst/>
          </a:prstGeom>
          <a:solidFill>
            <a:srgbClr val="FAFCFF"/>
          </a:solidFill>
          <a:ln cap="flat" cmpd="sng" w="9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4200000" y="4100000"/>
            <a:ext cx="4449900" cy="540000"/>
          </a:xfrm>
          <a:prstGeom prst="rect">
            <a:avLst/>
          </a:prstGeom>
          <a:solidFill>
            <a:srgbClr val="FFF5DB"/>
          </a:solidFill>
          <a:ln cap="flat" cmpd="sng" w="9000">
            <a:solidFill>
              <a:srgbClr val="FFA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4380000" y="1150000"/>
            <a:ext cx="4100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Udemy講義　★★★★☆</a:t>
            </a:r>
            <a:endParaRPr sz="1300"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全体像の理解に有効。経験者は省略余地あり。</a:t>
            </a:r>
            <a:endParaRPr sz="1300">
              <a:solidFill>
                <a:srgbClr val="212B38"/>
              </a:solidFill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380000" y="2150000"/>
            <a:ext cx="4100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212B38"/>
                </a:solidFill>
              </a:rPr>
              <a:t>Udemy模試　★★★★★</a:t>
            </a:r>
            <a:endParaRPr b="1" sz="1300"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212B38"/>
                </a:solidFill>
              </a:rPr>
              <a:t>最重要教材。1周目から解説理解を優先。</a:t>
            </a:r>
            <a:endParaRPr b="1" sz="1300">
              <a:solidFill>
                <a:srgbClr val="212B38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4380000" y="3150000"/>
            <a:ext cx="4100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書籍　★★☆☆☆</a:t>
            </a:r>
            <a:endParaRPr sz="1300"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喫茶店や就寝前の補助。主教材ではない。</a:t>
            </a:r>
            <a:endParaRPr sz="1300">
              <a:solidFill>
                <a:srgbClr val="212B38"/>
              </a:solidFill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4380000" y="4170000"/>
            <a:ext cx="408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212B38"/>
                </a:solidFill>
              </a:rPr>
              <a:t>教材選びよりも、模試解説の読み方が重要でした。</a:t>
            </a:r>
            <a:endParaRPr b="1" sz="1200">
              <a:solidFill>
                <a:srgbClr val="212B38"/>
              </a:solidFill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550000" y="890000"/>
            <a:ext cx="620100" cy="45000"/>
          </a:xfrm>
          <a:prstGeom prst="rect">
            <a:avLst/>
          </a:prstGeom>
          <a:solidFill>
            <a:srgbClr val="FF9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8350000" y="4900000"/>
            <a:ext cx="9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808791"/>
                </a:solidFill>
              </a:rPr>
              <a:t>05</a:t>
            </a:r>
            <a:endParaRPr sz="800">
              <a:solidFill>
                <a:srgbClr val="80879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/>
        </p:nvSpPr>
        <p:spPr>
          <a:xfrm>
            <a:off x="550000" y="330000"/>
            <a:ext cx="8199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rgbClr val="0D1F33"/>
                </a:solidFill>
              </a:rPr>
              <a:t>模試の推移</a:t>
            </a:r>
            <a:endParaRPr b="1" sz="3000">
              <a:solidFill>
                <a:srgbClr val="0D1F33"/>
              </a:solidFill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950000" y="2825000"/>
            <a:ext cx="350100" cy="1175100"/>
          </a:xfrm>
          <a:prstGeom prst="rect">
            <a:avLst/>
          </a:prstGeom>
          <a:solidFill>
            <a:srgbClr val="618F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1700000" y="2850000"/>
            <a:ext cx="350100" cy="1149900"/>
          </a:xfrm>
          <a:prstGeom prst="rect">
            <a:avLst/>
          </a:prstGeom>
          <a:solidFill>
            <a:srgbClr val="618F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2450000" y="3050000"/>
            <a:ext cx="350100" cy="950100"/>
          </a:xfrm>
          <a:prstGeom prst="rect">
            <a:avLst/>
          </a:prstGeom>
          <a:solidFill>
            <a:srgbClr val="618F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3200000" y="2475000"/>
            <a:ext cx="350100" cy="1524900"/>
          </a:xfrm>
          <a:prstGeom prst="rect">
            <a:avLst/>
          </a:prstGeom>
          <a:solidFill>
            <a:srgbClr val="618F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3950000" y="2625000"/>
            <a:ext cx="350100" cy="1374900"/>
          </a:xfrm>
          <a:prstGeom prst="rect">
            <a:avLst/>
          </a:prstGeom>
          <a:solidFill>
            <a:srgbClr val="618F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4850000" y="2000000"/>
            <a:ext cx="350100" cy="2000100"/>
          </a:xfrm>
          <a:prstGeom prst="rect">
            <a:avLst/>
          </a:prstGeom>
          <a:solidFill>
            <a:srgbClr val="FF9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5600000" y="2275000"/>
            <a:ext cx="350100" cy="1725000"/>
          </a:xfrm>
          <a:prstGeom prst="rect">
            <a:avLst/>
          </a:prstGeom>
          <a:solidFill>
            <a:srgbClr val="FF9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6650000" y="1350000"/>
            <a:ext cx="2340000" cy="2160000"/>
          </a:xfrm>
          <a:prstGeom prst="rect">
            <a:avLst/>
          </a:prstGeom>
          <a:solidFill>
            <a:srgbClr val="FFF5DB"/>
          </a:solidFill>
          <a:ln cap="flat" cmpd="sng" w="10000">
            <a:solidFill>
              <a:srgbClr val="FFA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7305"/>
                </a:solidFill>
              </a:rPr>
              <a:t>実施状況</a:t>
            </a:r>
            <a:endParaRPr b="1" sz="1300">
              <a:solidFill>
                <a:srgbClr val="FF73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1周目：第1〜5回</a:t>
            </a:r>
            <a:endParaRPr sz="1300"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2周目：第1〜2回</a:t>
            </a:r>
            <a:endParaRPr sz="1300"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212B38"/>
                </a:solidFill>
              </a:rPr>
              <a:t>低得点でも焦らず、解説理解を継続。</a:t>
            </a:r>
            <a:endParaRPr b="1" sz="1300">
              <a:solidFill>
                <a:srgbClr val="212B38"/>
              </a:solidFill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860000" y="4180000"/>
            <a:ext cx="6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1周目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第1回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47%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1610000" y="4180000"/>
            <a:ext cx="6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1周目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第2回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46%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2360000" y="4180000"/>
            <a:ext cx="6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1周目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第3回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38%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3110000" y="4180000"/>
            <a:ext cx="6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1周目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第4回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61%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3860000" y="4180000"/>
            <a:ext cx="6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1周目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第5回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55%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4760000" y="4180000"/>
            <a:ext cx="6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2周目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第1回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80%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5510000" y="4180000"/>
            <a:ext cx="6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2周目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第2回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2"/>
                </a:solidFill>
              </a:rPr>
              <a:t>69%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550000" y="890000"/>
            <a:ext cx="620100" cy="45000"/>
          </a:xfrm>
          <a:prstGeom prst="rect">
            <a:avLst/>
          </a:prstGeom>
          <a:solidFill>
            <a:srgbClr val="FF9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8350000" y="4900000"/>
            <a:ext cx="9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808791"/>
                </a:solidFill>
              </a:rPr>
              <a:t>06</a:t>
            </a:r>
            <a:endParaRPr sz="800">
              <a:solidFill>
                <a:srgbClr val="80879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/>
        </p:nvSpPr>
        <p:spPr>
          <a:xfrm>
            <a:off x="550000" y="330000"/>
            <a:ext cx="8199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rgbClr val="0D1F33"/>
                </a:solidFill>
              </a:rPr>
              <a:t>学習で意識した3つ</a:t>
            </a:r>
            <a:endParaRPr b="1" sz="3000">
              <a:solidFill>
                <a:srgbClr val="0D1F33"/>
              </a:solidFill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50000" y="890000"/>
            <a:ext cx="620100" cy="45000"/>
          </a:xfrm>
          <a:prstGeom prst="rect">
            <a:avLst/>
          </a:prstGeom>
          <a:solidFill>
            <a:srgbClr val="FF9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8350000" y="4900000"/>
            <a:ext cx="9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808791"/>
                </a:solidFill>
              </a:rPr>
              <a:t>07</a:t>
            </a:r>
            <a:endParaRPr sz="800">
              <a:solidFill>
                <a:srgbClr val="808791"/>
              </a:solidFill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650000" y="1300000"/>
            <a:ext cx="2340000" cy="2340000"/>
          </a:xfrm>
          <a:prstGeom prst="rect">
            <a:avLst/>
          </a:prstGeom>
          <a:solidFill>
            <a:srgbClr val="FAFCFF"/>
          </a:solidFill>
          <a:ln cap="flat" cmpd="sng" w="12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3350000" y="1300000"/>
            <a:ext cx="2340000" cy="2340000"/>
          </a:xfrm>
          <a:prstGeom prst="rect">
            <a:avLst/>
          </a:prstGeom>
          <a:solidFill>
            <a:srgbClr val="FAFCFF"/>
          </a:solidFill>
          <a:ln cap="flat" cmpd="sng" w="12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6050000" y="1300000"/>
            <a:ext cx="2340000" cy="2340000"/>
          </a:xfrm>
          <a:prstGeom prst="rect">
            <a:avLst/>
          </a:prstGeom>
          <a:solidFill>
            <a:srgbClr val="FAFCFF"/>
          </a:solidFill>
          <a:ln cap="flat" cmpd="sng" w="12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830000" y="1550000"/>
            <a:ext cx="1980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7305"/>
                </a:solidFill>
              </a:rPr>
              <a:t>1. 構成で理解</a:t>
            </a:r>
            <a:endParaRPr b="1" sz="1500">
              <a:solidFill>
                <a:srgbClr val="FF73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212B38"/>
                </a:solidFill>
              </a:rPr>
              <a:t>サービスを単体暗記せず、VPC・ALB・DBなどのつながりで考える</a:t>
            </a:r>
            <a:endParaRPr sz="1200">
              <a:solidFill>
                <a:srgbClr val="212B38"/>
              </a:solidFill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3530000" y="1550000"/>
            <a:ext cx="1980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7305"/>
                </a:solidFill>
              </a:rPr>
              <a:t>2. 解説を理解</a:t>
            </a:r>
            <a:endParaRPr b="1" sz="1500">
              <a:solidFill>
                <a:srgbClr val="FF73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212B38"/>
                </a:solidFill>
              </a:rPr>
              <a:t>1周目から1問ずつ解説を読み、選択肢の理由まで確認する</a:t>
            </a:r>
            <a:endParaRPr sz="1200">
              <a:solidFill>
                <a:srgbClr val="212B38"/>
              </a:solidFill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6230000" y="1550000"/>
            <a:ext cx="1980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7305"/>
                </a:solidFill>
              </a:rPr>
              <a:t>3. 反復で補完</a:t>
            </a:r>
            <a:endParaRPr b="1" sz="1500">
              <a:solidFill>
                <a:srgbClr val="FF73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212B38"/>
                </a:solidFill>
              </a:rPr>
              <a:t>忘れてもOK。重要論点は再出題で定着させる</a:t>
            </a:r>
            <a:endParaRPr sz="1200">
              <a:solidFill>
                <a:srgbClr val="212B38"/>
              </a:solidFill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1050000" y="4050000"/>
            <a:ext cx="7050000" cy="480000"/>
          </a:xfrm>
          <a:prstGeom prst="rect">
            <a:avLst/>
          </a:prstGeom>
          <a:solidFill>
            <a:srgbClr val="FFF5DB"/>
          </a:solidFill>
          <a:ln cap="flat" cmpd="sng" w="12700">
            <a:solidFill>
              <a:srgbClr val="FFA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1300000" y="4125000"/>
            <a:ext cx="66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7305"/>
                </a:solidFill>
              </a:rPr>
              <a:t>インプット → 問題演習 → 解説理解 → 再出題で定着</a:t>
            </a:r>
            <a:endParaRPr b="1" sz="1300">
              <a:solidFill>
                <a:srgbClr val="FF730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/>
        </p:nvSpPr>
        <p:spPr>
          <a:xfrm>
            <a:off x="550000" y="330000"/>
            <a:ext cx="8199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rgbClr val="0D1F33"/>
                </a:solidFill>
              </a:rPr>
              <a:t>試験当日・受験のコツ</a:t>
            </a:r>
            <a:endParaRPr b="1" sz="3000">
              <a:solidFill>
                <a:srgbClr val="0D1F33"/>
              </a:solidFill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650000" y="1300000"/>
            <a:ext cx="2499900" cy="2850000"/>
          </a:xfrm>
          <a:prstGeom prst="rect">
            <a:avLst/>
          </a:prstGeom>
          <a:solidFill>
            <a:srgbClr val="FFF6E0"/>
          </a:solidFill>
          <a:ln cap="flat" cmpd="sng" w="10000">
            <a:solidFill>
              <a:srgbClr val="FFA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3350000" y="1300000"/>
            <a:ext cx="2499900" cy="2850000"/>
          </a:xfrm>
          <a:prstGeom prst="rect">
            <a:avLst/>
          </a:prstGeom>
          <a:solidFill>
            <a:srgbClr val="FAFCFF"/>
          </a:solidFill>
          <a:ln cap="flat" cmpd="sng" w="10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6050000" y="1300000"/>
            <a:ext cx="2499900" cy="2850000"/>
          </a:xfrm>
          <a:prstGeom prst="rect">
            <a:avLst/>
          </a:prstGeom>
          <a:solidFill>
            <a:srgbClr val="FAFCFF"/>
          </a:solidFill>
          <a:ln cap="flat" cmpd="sng" w="10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830000" y="1600000"/>
            <a:ext cx="2150100" cy="2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FF7305"/>
                </a:solidFill>
              </a:rPr>
              <a:t>ESL+30</a:t>
            </a:r>
            <a:endParaRPr b="1" sz="1600">
              <a:solidFill>
                <a:srgbClr val="FF73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212B38"/>
                </a:solidFill>
              </a:rPr>
              <a:t>試験予約前に申請。</a:t>
            </a:r>
            <a:endParaRPr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212B38"/>
                </a:solidFill>
              </a:rPr>
              <a:t>時間と気持ちに余裕が出ました。</a:t>
            </a:r>
            <a:endParaRPr>
              <a:solidFill>
                <a:srgbClr val="212B38"/>
              </a:solidFill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3530000" y="1600000"/>
            <a:ext cx="2150100" cy="2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FF7305"/>
                </a:solidFill>
              </a:rPr>
              <a:t>フラグ機能</a:t>
            </a:r>
            <a:endParaRPr b="1" sz="1600">
              <a:solidFill>
                <a:srgbClr val="FF73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212B38"/>
                </a:solidFill>
              </a:rPr>
              <a:t>少しでも自信がなければ印を付ける。</a:t>
            </a:r>
            <a:endParaRPr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212B38"/>
                </a:solidFill>
              </a:rPr>
              <a:t>2周目で判断して外す。</a:t>
            </a:r>
            <a:endParaRPr>
              <a:solidFill>
                <a:srgbClr val="212B38"/>
              </a:solidFill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6230000" y="1600000"/>
            <a:ext cx="2150100" cy="2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FF7305"/>
                </a:solidFill>
              </a:rPr>
              <a:t>焦らない</a:t>
            </a:r>
            <a:endParaRPr b="1" sz="1600">
              <a:solidFill>
                <a:srgbClr val="FF73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212B38"/>
                </a:solidFill>
              </a:rPr>
              <a:t>模試と違う問題も出る。</a:t>
            </a:r>
            <a:endParaRPr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212B38"/>
                </a:solidFill>
              </a:rPr>
              <a:t>解ける問題を確実に取る意識で進める。</a:t>
            </a:r>
            <a:endParaRPr>
              <a:solidFill>
                <a:srgbClr val="212B38"/>
              </a:solidFill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50000" y="890000"/>
            <a:ext cx="620100" cy="45000"/>
          </a:xfrm>
          <a:prstGeom prst="rect">
            <a:avLst/>
          </a:prstGeom>
          <a:solidFill>
            <a:srgbClr val="FF9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8350000" y="4900000"/>
            <a:ext cx="9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808791"/>
                </a:solidFill>
              </a:rPr>
              <a:t>08</a:t>
            </a:r>
            <a:endParaRPr sz="800">
              <a:solidFill>
                <a:srgbClr val="80879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/>
        </p:nvSpPr>
        <p:spPr>
          <a:xfrm>
            <a:off x="550000" y="330000"/>
            <a:ext cx="8199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rgbClr val="0D1F33"/>
                </a:solidFill>
              </a:rPr>
              <a:t>振り返り</a:t>
            </a:r>
            <a:endParaRPr b="1" sz="3000">
              <a:solidFill>
                <a:srgbClr val="0D1F33"/>
              </a:solidFill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650000" y="1250000"/>
            <a:ext cx="2499900" cy="2450100"/>
          </a:xfrm>
          <a:prstGeom prst="rect">
            <a:avLst/>
          </a:prstGeom>
          <a:solidFill>
            <a:srgbClr val="FAFCFF"/>
          </a:solidFill>
          <a:ln cap="flat" cmpd="sng" w="10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3350000" y="1250000"/>
            <a:ext cx="2499900" cy="2450100"/>
          </a:xfrm>
          <a:prstGeom prst="rect">
            <a:avLst/>
          </a:prstGeom>
          <a:solidFill>
            <a:srgbClr val="FAFCFF"/>
          </a:solidFill>
          <a:ln cap="flat" cmpd="sng" w="10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6050000" y="1250000"/>
            <a:ext cx="2499900" cy="2450100"/>
          </a:xfrm>
          <a:prstGeom prst="rect">
            <a:avLst/>
          </a:prstGeom>
          <a:solidFill>
            <a:srgbClr val="FFF6E0"/>
          </a:solidFill>
          <a:ln cap="flat" cmpd="sng" w="10000">
            <a:solidFill>
              <a:srgbClr val="FFA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800000" y="1480000"/>
            <a:ext cx="21999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7305"/>
                </a:solidFill>
              </a:rPr>
              <a:t>受験前の状態</a:t>
            </a:r>
            <a:endParaRPr b="1">
              <a:solidFill>
                <a:srgbClr val="FF73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AWS業務未経験</a:t>
            </a:r>
            <a:endParaRPr sz="1300"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CLFから約1年ブランク</a:t>
            </a:r>
            <a:endParaRPr sz="1300"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模試は当落線上</a:t>
            </a:r>
            <a:endParaRPr sz="1300">
              <a:solidFill>
                <a:srgbClr val="212B38"/>
              </a:solidFill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3500000" y="1480000"/>
            <a:ext cx="21999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7305"/>
                </a:solidFill>
              </a:rPr>
              <a:t>学習で得たこと</a:t>
            </a:r>
            <a:endParaRPr b="1">
              <a:solidFill>
                <a:srgbClr val="FF73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模試解説を重視</a:t>
            </a:r>
            <a:endParaRPr sz="1300"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構成で理解</a:t>
            </a:r>
            <a:endParaRPr sz="1300"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反復で定着</a:t>
            </a:r>
            <a:endParaRPr sz="1300">
              <a:solidFill>
                <a:srgbClr val="212B38"/>
              </a:solidFill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6200000" y="1480000"/>
            <a:ext cx="21999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7305"/>
                </a:solidFill>
              </a:rPr>
              <a:t>今ならこう進める</a:t>
            </a:r>
            <a:endParaRPr b="1">
              <a:solidFill>
                <a:srgbClr val="FF73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講義・ハンズオンは短め</a:t>
            </a:r>
            <a:endParaRPr sz="1300"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早めに問題演習へ</a:t>
            </a:r>
            <a:endParaRPr sz="1300">
              <a:solidFill>
                <a:srgbClr val="212B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212B38"/>
                </a:solidFill>
              </a:rPr>
              <a:t>合格後に手を動かして補強</a:t>
            </a:r>
            <a:endParaRPr sz="1300">
              <a:solidFill>
                <a:srgbClr val="212B38"/>
              </a:solidFill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650000" y="4050000"/>
            <a:ext cx="7899900" cy="650100"/>
          </a:xfrm>
          <a:prstGeom prst="rect">
            <a:avLst/>
          </a:prstGeom>
          <a:solidFill>
            <a:srgbClr val="FFF5DB"/>
          </a:solidFill>
          <a:ln cap="flat" cmpd="sng" w="10000">
            <a:solidFill>
              <a:srgbClr val="FFA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850000" y="4180000"/>
            <a:ext cx="75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212B38"/>
                </a:solidFill>
              </a:rPr>
              <a:t>今から始めるなら：講義で全体像を掴んだら、早めに模試へ。点数より解説理解を優先します。</a:t>
            </a:r>
            <a:endParaRPr b="1" sz="1300">
              <a:solidFill>
                <a:srgbClr val="212B38"/>
              </a:solidFill>
            </a:endParaRPr>
          </a:p>
        </p:txBody>
      </p:sp>
      <p:cxnSp>
        <p:nvCxnSpPr>
          <p:cNvPr id="180" name="Google Shape;180;p21"/>
          <p:cNvCxnSpPr/>
          <p:nvPr/>
        </p:nvCxnSpPr>
        <p:spPr>
          <a:xfrm>
            <a:off x="3200000" y="2600000"/>
            <a:ext cx="120000" cy="0"/>
          </a:xfrm>
          <a:prstGeom prst="straightConnector1">
            <a:avLst/>
          </a:prstGeom>
          <a:noFill/>
          <a:ln cap="flat" cmpd="sng" w="19050">
            <a:solidFill>
              <a:srgbClr val="FF9914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1" name="Google Shape;181;p21"/>
          <p:cNvCxnSpPr/>
          <p:nvPr/>
        </p:nvCxnSpPr>
        <p:spPr>
          <a:xfrm>
            <a:off x="5900000" y="2600000"/>
            <a:ext cx="120000" cy="0"/>
          </a:xfrm>
          <a:prstGeom prst="straightConnector1">
            <a:avLst/>
          </a:prstGeom>
          <a:noFill/>
          <a:ln cap="flat" cmpd="sng" w="19050">
            <a:solidFill>
              <a:srgbClr val="FF9914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2" name="Google Shape;182;p21"/>
          <p:cNvSpPr/>
          <p:nvPr/>
        </p:nvSpPr>
        <p:spPr>
          <a:xfrm>
            <a:off x="550000" y="890000"/>
            <a:ext cx="620100" cy="45000"/>
          </a:xfrm>
          <a:prstGeom prst="rect">
            <a:avLst/>
          </a:prstGeom>
          <a:solidFill>
            <a:srgbClr val="FF9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8350000" y="4900000"/>
            <a:ext cx="9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808791"/>
                </a:solidFill>
              </a:rPr>
              <a:t>09</a:t>
            </a:r>
            <a:endParaRPr sz="800">
              <a:solidFill>
                <a:srgbClr val="80879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/>
        </p:nvSpPr>
        <p:spPr>
          <a:xfrm>
            <a:off x="780000" y="1200000"/>
            <a:ext cx="795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800">
                <a:solidFill>
                  <a:srgbClr val="0D1F33"/>
                </a:solidFill>
              </a:rPr>
              <a:t>最初の模試が低得点でも、</a:t>
            </a:r>
            <a:endParaRPr b="1" sz="2800">
              <a:solidFill>
                <a:srgbClr val="0D1F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800">
                <a:solidFill>
                  <a:srgbClr val="FF7305"/>
                </a:solidFill>
              </a:rPr>
              <a:t>理解を積み重ねれば合格は目指せる。</a:t>
            </a:r>
            <a:endParaRPr b="1" sz="2800">
              <a:solidFill>
                <a:srgbClr val="FF7305"/>
              </a:solidFill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8350000" y="4900000"/>
            <a:ext cx="9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808791"/>
                </a:solidFill>
              </a:rPr>
              <a:t>10</a:t>
            </a:r>
            <a:endParaRPr sz="800">
              <a:solidFill>
                <a:srgbClr val="808791"/>
              </a:solidFill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1000000" y="3300000"/>
            <a:ext cx="2160000" cy="900000"/>
          </a:xfrm>
          <a:prstGeom prst="rect">
            <a:avLst/>
          </a:prstGeom>
          <a:solidFill>
            <a:srgbClr val="FAFCFF"/>
          </a:solidFill>
          <a:ln cap="flat" cmpd="sng" w="12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3460000" y="3300000"/>
            <a:ext cx="2160000" cy="900000"/>
          </a:xfrm>
          <a:prstGeom prst="rect">
            <a:avLst/>
          </a:prstGeom>
          <a:solidFill>
            <a:srgbClr val="FAFCFF"/>
          </a:solidFill>
          <a:ln cap="flat" cmpd="sng" w="12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5920000" y="3300000"/>
            <a:ext cx="2220000" cy="900000"/>
          </a:xfrm>
          <a:prstGeom prst="rect">
            <a:avLst/>
          </a:prstGeom>
          <a:solidFill>
            <a:srgbClr val="FAFCFF"/>
          </a:solidFill>
          <a:ln cap="flat" cmpd="sng" w="12000">
            <a:solidFill>
              <a:srgbClr val="D1D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1160000" y="3460000"/>
            <a:ext cx="186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D1F33"/>
                </a:solidFill>
              </a:rPr>
              <a:t>1. 構成で理解</a:t>
            </a:r>
            <a:endParaRPr b="1" sz="1500">
              <a:solidFill>
                <a:srgbClr val="0D1F33"/>
              </a:solidFill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3620000" y="3460000"/>
            <a:ext cx="186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D1F33"/>
                </a:solidFill>
              </a:rPr>
              <a:t>2. 解説を重視</a:t>
            </a:r>
            <a:endParaRPr b="1" sz="1500">
              <a:solidFill>
                <a:srgbClr val="0D1F33"/>
              </a:solidFill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6050000" y="3460000"/>
            <a:ext cx="204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50">
                <a:solidFill>
                  <a:srgbClr val="0D1F33"/>
                </a:solidFill>
              </a:rPr>
              <a:t>3. 問題演習を続ける</a:t>
            </a:r>
            <a:endParaRPr b="1" sz="1350">
              <a:solidFill>
                <a:srgbClr val="0D1F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